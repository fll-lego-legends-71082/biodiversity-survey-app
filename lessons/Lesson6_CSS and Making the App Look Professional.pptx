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7" r:id="rId13"/>
    <p:sldId id="269" r:id="rId14"/>
    <p:sldId id="270" r:id="rId15"/>
    <p:sldId id="271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9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3CD20-D45C-2FF2-EB9D-D340A0BC9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C1D7F-110E-9009-08ED-F43BC0BDE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8A934-B3A1-62D7-56F5-6B161245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920EC-F30F-A7F8-C8AC-B086090B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86D22-D248-03C4-FD15-CA35CBF90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2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D3BC6-FDDE-4BC2-E07B-C1E53BCB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B701-D18B-D783-A57E-0A9E7DCD1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C2487-0E7D-4389-FE8E-E88C067E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659A1-98AC-C45D-A584-40740F41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ED3B4-2E95-CD3E-C07E-5E77EFEB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0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71AAC-5C8A-3B01-D666-193FFCAD4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8B862-E238-20F0-C5A7-6037453D8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F4206-A9BA-62C2-6E02-63CFC606A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E7D89-6779-D409-D02B-377CC52D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2C347-02BE-65CC-E842-4480D70E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5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9579-4DF8-B3BA-706F-464FCD739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50A20-D7A0-1517-2941-DD955011E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2E180-5655-CF99-3BCF-2EB8F7741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8A2AC-9826-0061-BC99-B47CF6BB6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D55B2-11BE-E559-DF8C-94740A22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62C81-428B-506E-254F-A4EFC232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1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DBAB7-F372-BC21-A1EB-7B2C48ABC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46F49-2EAC-F03E-F429-8FB0D5235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3BCEB-6413-E3A7-2DC4-3EBEF6DEE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A5281-3CDF-ACA4-15D3-560A41B8E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C4872-CC2C-8A1C-57C8-47C48158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B449F6-5D11-E4CD-7C5E-2F1D9CD1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DC266-B41F-F67C-A5C8-9094164E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8534F-C69C-FBF8-2D42-47CAB86F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727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D2A8-785A-C67C-5262-FFD5FBC1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235BC-6BA7-0E7A-5DB9-5CEC76B1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E6BFA7-F837-B106-AC60-699674D87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02BD3-71D7-3110-1FB9-28272BEB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9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5EC4E-E40E-33A2-3714-DBB11C9D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070A8-6C66-60F2-347F-E2C547883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2E510-E35A-06A0-48BA-C19AA3B1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6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BC80-69C5-5961-F851-548ECD96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19D0C-90C2-182F-9D2D-439C74AEF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FFC66-C15D-BC79-83DB-C9A1A1F4A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90226-F49C-42B3-DFBC-17F8EE6C4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548FD-67B9-EDF8-2B3B-E98BD774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B2794-84A0-6BF7-C84C-E89A9755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9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3B4F-71E0-3AE0-592A-FCF2A3B2F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1579D3-9A61-2421-9B72-6B0AF4E51A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E7E66-6D37-9803-70FD-D58C7408E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C7466-153C-2810-2420-71E05615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2F380-E98D-92BC-64AF-247DD9B2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D12AB-E309-B330-D951-2B7F3B20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67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4DF5-7028-839C-B57C-EAB7C155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728CF-16BF-8928-FA10-6E7CB7DDA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1EC1B-CFDC-3E9D-09DC-37F0A73E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65FC8-5B94-64CE-1397-D42AF145E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71096-D171-49F7-08EB-0F83FECCC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167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DAC22-129C-8335-202A-B2856ECAE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9FD0D-81C3-0E99-C7CC-4551FB45A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63F4A-6781-DB90-324B-CC04D274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7379B-72E4-8E7C-B2B8-057A0E1F1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C70C-44FA-8238-0E38-F61E758D7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2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B3596-4624-E733-E740-AB10FE1F4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4AED5-EF05-CCF9-590B-66055DCB1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33047-3486-86FB-4B1C-5CFDB2CF2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78CB6-8BA2-4D0C-AA7D-1AC8C660798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734AE-3970-8B24-9BC1-76A4CB055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CE492-5FAF-12EF-30DB-3319B4E5C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EE72A-E17E-40A9-B2F9-293401245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7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9505-B454-A34F-AFD7-DF3830C717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and Making the App Look Professional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65C06-E402-0FDA-D87A-EE9CA1CD51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2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9A6FE-0A5A-308C-86BF-8C30512C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5" y="288925"/>
            <a:ext cx="10515600" cy="1325563"/>
          </a:xfrm>
        </p:spPr>
        <p:txBody>
          <a:bodyPr/>
          <a:lstStyle/>
          <a:p>
            <a:r>
              <a:rPr lang="en-US" dirty="0"/>
              <a:t>Learning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6E397-30D7-F905-6B0C-9AC30702E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14488"/>
            <a:ext cx="10515600" cy="4351338"/>
          </a:xfrm>
        </p:spPr>
        <p:txBody>
          <a:bodyPr/>
          <a:lstStyle/>
          <a:p>
            <a:r>
              <a:rPr lang="en-US" dirty="0"/>
              <a:t>We will learn CSS, layout, responsive design, and how React connects components to styles.</a:t>
            </a:r>
          </a:p>
          <a:p>
            <a:r>
              <a:rPr lang="en-US" dirty="0"/>
              <a:t>The important point is that React controls what the app does; CSS controls what it looks like.</a:t>
            </a:r>
          </a:p>
        </p:txBody>
      </p:sp>
    </p:spTree>
    <p:extLst>
      <p:ext uri="{BB962C8B-B14F-4D97-AF65-F5344CB8AC3E}">
        <p14:creationId xmlns:p14="http://schemas.microsoft.com/office/powerpoint/2010/main" val="275884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F8E5A-3EBD-1481-BF7C-BF202761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8255"/>
            <a:ext cx="10515600" cy="1325563"/>
          </a:xfrm>
        </p:spPr>
        <p:txBody>
          <a:bodyPr/>
          <a:lstStyle/>
          <a:p>
            <a:r>
              <a:rPr lang="en-US" dirty="0"/>
              <a:t>What is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8B2DD-BC28-2E3E-3657-2F90A7EDD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" y="1343818"/>
            <a:ext cx="10515600" cy="5080428"/>
          </a:xfrm>
        </p:spPr>
        <p:txBody>
          <a:bodyPr/>
          <a:lstStyle/>
          <a:p>
            <a:r>
              <a:rPr lang="en-US" dirty="0"/>
              <a:t>We currently write JSX like:</a:t>
            </a:r>
          </a:p>
          <a:p>
            <a:r>
              <a:rPr lang="en-US" dirty="0"/>
              <a:t>CSS lets us say things like:</a:t>
            </a:r>
          </a:p>
          <a:p>
            <a:endParaRPr lang="en-US" dirty="0"/>
          </a:p>
          <a:p>
            <a:r>
              <a:rPr lang="en-US" dirty="0"/>
              <a:t>Think of the responsibilities this way:</a:t>
            </a:r>
          </a:p>
          <a:p>
            <a:r>
              <a:rPr lang="en-US" dirty="0"/>
              <a:t>React adds another responsibility: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A7B1A-D0BA-71C7-2020-5FDF2BB6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068" y="1422129"/>
            <a:ext cx="2562583" cy="362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EE10B9-1CD3-2427-4150-298092A51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068" y="1945364"/>
            <a:ext cx="1781424" cy="838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5231DF-A2CF-E51A-35DE-A616AC0CD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280" y="2944914"/>
            <a:ext cx="2178627" cy="3287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DE0516-92EA-CA9C-7E32-3B560882AD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686" y="3991627"/>
            <a:ext cx="2398356" cy="183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699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A3D2-9B03-B533-486B-90E33E2C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93" y="18255"/>
            <a:ext cx="10515600" cy="1325563"/>
          </a:xfrm>
        </p:spPr>
        <p:txBody>
          <a:bodyPr/>
          <a:lstStyle/>
          <a:p>
            <a:r>
              <a:rPr lang="en-US" dirty="0"/>
              <a:t>Find App.css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36BCE-B767-40F0-3622-74AED3D78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93" y="1343818"/>
            <a:ext cx="10925907" cy="4833145"/>
          </a:xfrm>
        </p:spPr>
        <p:txBody>
          <a:bodyPr/>
          <a:lstStyle/>
          <a:p>
            <a:r>
              <a:rPr lang="en-US" dirty="0"/>
              <a:t>Your project should already contain:</a:t>
            </a:r>
          </a:p>
          <a:p>
            <a:endParaRPr lang="en-US" dirty="0"/>
          </a:p>
          <a:p>
            <a:r>
              <a:rPr lang="en-US" dirty="0"/>
              <a:t>Open App.css</a:t>
            </a:r>
          </a:p>
          <a:p>
            <a:r>
              <a:rPr lang="en-US" dirty="0"/>
              <a:t>Remove template code.</a:t>
            </a:r>
          </a:p>
          <a:p>
            <a:r>
              <a:rPr lang="en-US" dirty="0"/>
              <a:t>Then at the top of </a:t>
            </a:r>
            <a:r>
              <a:rPr lang="en-US" dirty="0" err="1"/>
              <a:t>App.jsx</a:t>
            </a:r>
            <a:r>
              <a:rPr lang="en-US" dirty="0"/>
              <a:t>, make sure you import App.css: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Now CSS in App.css can style our application.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60536-382B-82DA-F17C-2E9E23FC7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829" y="1367143"/>
            <a:ext cx="2124371" cy="1600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1D94DD-69EF-6DF7-8219-8C52935E9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237" y="3776500"/>
            <a:ext cx="6130656" cy="1033257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66BCF3D-874F-80C6-D84E-BF272E100CED}"/>
              </a:ext>
            </a:extLst>
          </p:cNvPr>
          <p:cNvSpPr/>
          <p:nvPr/>
        </p:nvSpPr>
        <p:spPr>
          <a:xfrm>
            <a:off x="3771237" y="4407063"/>
            <a:ext cx="1969477" cy="4026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7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47E8D-1BF3-1805-5896-02060ACA9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55" y="18255"/>
            <a:ext cx="10515600" cy="1325563"/>
          </a:xfrm>
        </p:spPr>
        <p:txBody>
          <a:bodyPr/>
          <a:lstStyle/>
          <a:p>
            <a:r>
              <a:rPr lang="en-US" dirty="0"/>
              <a:t>Give the app a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67097-EB0D-28D5-DD26-17E21209F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509" y="1343818"/>
            <a:ext cx="10515600" cy="4351338"/>
          </a:xfrm>
        </p:spPr>
        <p:txBody>
          <a:bodyPr/>
          <a:lstStyle/>
          <a:p>
            <a:r>
              <a:rPr lang="en-US" dirty="0"/>
              <a:t>Change the top-level </a:t>
            </a:r>
            <a:r>
              <a:rPr lang="en-US" dirty="0">
                <a:highlight>
                  <a:srgbClr val="C0C0C0"/>
                </a:highlight>
              </a:rPr>
              <a:t>div</a:t>
            </a:r>
            <a:r>
              <a:rPr lang="en-US" dirty="0"/>
              <a:t> in </a:t>
            </a:r>
            <a:r>
              <a:rPr lang="en-US" dirty="0" err="1"/>
              <a:t>App.jsx</a:t>
            </a:r>
            <a:r>
              <a:rPr lang="en-US" dirty="0"/>
              <a:t> from: </a:t>
            </a:r>
          </a:p>
          <a:p>
            <a:pPr marL="0" indent="0">
              <a:buNone/>
            </a:pPr>
            <a:r>
              <a:rPr lang="en-US" dirty="0"/>
              <a:t>   to:  </a:t>
            </a:r>
          </a:p>
          <a:p>
            <a:r>
              <a:rPr lang="en-US" dirty="0"/>
              <a:t>Now put this in App.css: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“</a:t>
            </a:r>
            <a:r>
              <a:rPr lang="en-US" dirty="0" err="1"/>
              <a:t>npm</a:t>
            </a:r>
            <a:r>
              <a:rPr lang="en-US" dirty="0"/>
              <a:t> run dev” command. Your content should now to be constrained and centered.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23EDBE-5231-536C-6887-68B19A8B5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812" y="1421401"/>
            <a:ext cx="782198" cy="431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0A8F1E-564C-60A1-0F09-542B8FD12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891" y="1951243"/>
            <a:ext cx="2131926" cy="366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23367E-D967-C89D-089B-EDFDFA39E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107" y="2924104"/>
            <a:ext cx="2107894" cy="112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7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25EB-1452-6732-1DB2-9AA7B8246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75" y="18255"/>
            <a:ext cx="10515600" cy="1325563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 err="1">
                <a:highlight>
                  <a:srgbClr val="C0C0C0"/>
                </a:highlight>
              </a:rPr>
              <a:t>className</a:t>
            </a:r>
            <a:endParaRPr lang="en-US" dirty="0">
              <a:highlight>
                <a:srgbClr val="C0C0C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48106-89A2-ECBF-C229-F6844398B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575" y="1178805"/>
            <a:ext cx="10923225" cy="4998158"/>
          </a:xfrm>
        </p:spPr>
        <p:txBody>
          <a:bodyPr/>
          <a:lstStyle/>
          <a:p>
            <a:r>
              <a:rPr lang="en-US" dirty="0"/>
              <a:t>CSS classes let us identify groups of elements.</a:t>
            </a:r>
          </a:p>
          <a:p>
            <a:r>
              <a:rPr lang="en-US" dirty="0"/>
              <a:t>For example, </a:t>
            </a:r>
          </a:p>
          <a:p>
            <a:pPr marL="0" indent="0">
              <a:buNone/>
            </a:pPr>
            <a:r>
              <a:rPr lang="en-US" dirty="0"/>
              <a:t>   and CSS: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highlight>
                  <a:srgbClr val="C0C0C0"/>
                </a:highlight>
              </a:rPr>
              <a:t>.</a:t>
            </a:r>
            <a:r>
              <a:rPr lang="en-US" dirty="0"/>
              <a:t> means:</a:t>
            </a:r>
          </a:p>
          <a:p>
            <a:pPr lvl="1"/>
            <a:r>
              <a:rPr lang="en-US" dirty="0"/>
              <a:t>Apply this style to anything whose class is </a:t>
            </a:r>
            <a:r>
              <a:rPr lang="en-US" dirty="0">
                <a:highlight>
                  <a:srgbClr val="C0C0C0"/>
                </a:highlight>
              </a:rPr>
              <a:t>observation-card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4C9A9-09BC-0857-EA9C-56FEAA00A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278" y="1826711"/>
            <a:ext cx="2975549" cy="44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BB3CDE-09CA-9285-0A28-E97670AE7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408" y="2347221"/>
            <a:ext cx="2877061" cy="88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4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4E0D-BDC4-EF14-CAF0-C7F9DBFB3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91" y="18255"/>
            <a:ext cx="10515600" cy="1325563"/>
          </a:xfrm>
        </p:spPr>
        <p:txBody>
          <a:bodyPr/>
          <a:lstStyle/>
          <a:p>
            <a:r>
              <a:rPr lang="en-US" dirty="0"/>
              <a:t>Create a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ED38-D57A-76CB-31A4-048173FFA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491" y="1343818"/>
            <a:ext cx="10978309" cy="4833145"/>
          </a:xfrm>
        </p:spPr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App.jsx</a:t>
            </a:r>
            <a:r>
              <a:rPr lang="en-US" dirty="0"/>
              <a:t>, replace the simple heading with </a:t>
            </a:r>
          </a:p>
          <a:p>
            <a:r>
              <a:rPr lang="en-US" dirty="0"/>
              <a:t>Now add: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53BC71-7C23-7984-99EC-F337A98DA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267" y="1343818"/>
            <a:ext cx="4133348" cy="20851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8ADA1B-823A-C5FF-8CFD-468D98816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328" y="1934634"/>
            <a:ext cx="3100317" cy="344348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A4317FA-A8D1-4EF4-16E1-6E0F1D0D5DFD}"/>
              </a:ext>
            </a:extLst>
          </p:cNvPr>
          <p:cNvSpPr/>
          <p:nvPr/>
        </p:nvSpPr>
        <p:spPr>
          <a:xfrm>
            <a:off x="2879378" y="3295428"/>
            <a:ext cx="1888958" cy="3609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5041A4-68C1-E917-5DF1-3E476C091617}"/>
              </a:ext>
            </a:extLst>
          </p:cNvPr>
          <p:cNvSpPr txBox="1"/>
          <p:nvPr/>
        </p:nvSpPr>
        <p:spPr>
          <a:xfrm>
            <a:off x="6694992" y="3944039"/>
            <a:ext cx="4765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Style h1elements that are inside </a:t>
            </a:r>
            <a:r>
              <a:rPr lang="en-US" dirty="0">
                <a:highlight>
                  <a:srgbClr val="C0C0C0"/>
                </a:highlight>
              </a:rPr>
              <a:t>.app-header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5FC7EE-5AEC-30C9-F697-47698FAF80C3}"/>
              </a:ext>
            </a:extLst>
          </p:cNvPr>
          <p:cNvCxnSpPr>
            <a:cxnSpLocks/>
          </p:cNvCxnSpPr>
          <p:nvPr/>
        </p:nvCxnSpPr>
        <p:spPr>
          <a:xfrm flipH="1" flipV="1">
            <a:off x="5034708" y="3558448"/>
            <a:ext cx="1487278" cy="3855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86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F1953-0D54-B597-FB58-0F0267D8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75" y="0"/>
            <a:ext cx="10515600" cy="1325563"/>
          </a:xfrm>
        </p:spPr>
        <p:txBody>
          <a:bodyPr/>
          <a:lstStyle/>
          <a:p>
            <a:r>
              <a:rPr lang="en-US" dirty="0"/>
              <a:t>Style our form (card-like form)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F801-4353-E785-403C-64CA7393D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475" y="1233889"/>
            <a:ext cx="10515600" cy="4799855"/>
          </a:xfrm>
        </p:spPr>
        <p:txBody>
          <a:bodyPr/>
          <a:lstStyle/>
          <a:p>
            <a:r>
              <a:rPr lang="en-US" dirty="0"/>
              <a:t>Wrap the form like this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add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1B8DE-B312-CC6B-862E-287F253DF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4" y="1942507"/>
            <a:ext cx="3063796" cy="11409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D315E2-16E1-6A29-D1E0-0E19D4FBB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023" y="3700363"/>
            <a:ext cx="3213983" cy="173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5A5F-4C1F-9502-291A-459B285D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39" y="18255"/>
            <a:ext cx="10515600" cy="1325563"/>
          </a:xfrm>
        </p:spPr>
        <p:txBody>
          <a:bodyPr/>
          <a:lstStyle/>
          <a:p>
            <a:r>
              <a:rPr lang="en-US" dirty="0"/>
              <a:t>Add 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FEF1D-5E7B-682B-F448-154F20FA9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38" y="1343817"/>
            <a:ext cx="11048999" cy="5197659"/>
          </a:xfrm>
        </p:spPr>
        <p:txBody>
          <a:bodyPr/>
          <a:lstStyle/>
          <a:p>
            <a:r>
              <a:rPr lang="en-US" dirty="0"/>
              <a:t>Forms should have labels rather than relying only on placeholders.</a:t>
            </a:r>
          </a:p>
          <a:p>
            <a:r>
              <a:rPr lang="en-US" dirty="0"/>
              <a:t>Instead of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 the same for location and other fields.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066326-5A3A-03B4-52CE-BF49F4932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619" y="1831602"/>
            <a:ext cx="3159370" cy="984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D24B66-2A06-C3DA-5162-2E82A5BDA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619" y="2908598"/>
            <a:ext cx="3973575" cy="287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34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BE43-7A2A-0B9A-454B-C96B9091A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18255"/>
            <a:ext cx="10515600" cy="1325563"/>
          </a:xfrm>
        </p:spPr>
        <p:txBody>
          <a:bodyPr/>
          <a:lstStyle/>
          <a:p>
            <a:r>
              <a:rPr lang="en-US" dirty="0"/>
              <a:t>Style form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7B5AA-EE6A-947E-C6B9-BB60A0882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72" y="1253331"/>
            <a:ext cx="10515600" cy="4836184"/>
          </a:xfrm>
        </p:spPr>
        <p:txBody>
          <a:bodyPr/>
          <a:lstStyle/>
          <a:p>
            <a:r>
              <a:rPr lang="en-US" dirty="0"/>
              <a:t>In App.css, add: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CAAF2-73A1-5967-4D40-EFE50A690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847" y="1182863"/>
            <a:ext cx="4119220" cy="455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6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7BD0-ABCA-D5E6-DE1B-7F9CA7629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79" y="18255"/>
            <a:ext cx="10515600" cy="1325563"/>
          </a:xfrm>
        </p:spPr>
        <p:txBody>
          <a:bodyPr/>
          <a:lstStyle/>
          <a:p>
            <a:r>
              <a:rPr lang="en-US" dirty="0"/>
              <a:t>Style the Add Observation button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CAD7C-2EE1-200A-2915-2EA4CEF6D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179" y="1343817"/>
            <a:ext cx="10515600" cy="5309901"/>
          </a:xfrm>
        </p:spPr>
        <p:txBody>
          <a:bodyPr>
            <a:normAutofit/>
          </a:bodyPr>
          <a:lstStyle/>
          <a:p>
            <a:r>
              <a:rPr lang="en-US" dirty="0"/>
              <a:t>Give it a class: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CSS: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Then: </a:t>
            </a:r>
          </a:p>
          <a:p>
            <a:endParaRPr lang="en-US" dirty="0"/>
          </a:p>
          <a:p>
            <a:r>
              <a:rPr lang="en-US" dirty="0"/>
              <a:t>:hover means:</a:t>
            </a:r>
          </a:p>
          <a:p>
            <a:pPr lvl="1"/>
            <a:r>
              <a:rPr lang="en-US" dirty="0"/>
              <a:t>Apply this style when the mouse is over the element.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98B31-786D-B09D-29DB-51867A1EA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011" y="1440485"/>
            <a:ext cx="2200582" cy="1228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3E4C91-5296-9EDC-1CCD-4AE6E3EC7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482" y="2837631"/>
            <a:ext cx="1819529" cy="1571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B550EE-C060-4F4D-926D-DEE5B7A6B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297" y="4577725"/>
            <a:ext cx="1771897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63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273F-C3CC-03A7-7D32-B5E78B1FE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07" y="24657"/>
            <a:ext cx="10515600" cy="1325563"/>
          </a:xfrm>
        </p:spPr>
        <p:txBody>
          <a:bodyPr/>
          <a:lstStyle/>
          <a:p>
            <a:r>
              <a:rPr lang="en-US" dirty="0"/>
              <a:t>What is padding versus margin?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95995-A202-0AEF-68B9-6FE4585FD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907" y="1385955"/>
            <a:ext cx="10515600" cy="5044027"/>
          </a:xfrm>
        </p:spPr>
        <p:txBody>
          <a:bodyPr/>
          <a:lstStyle/>
          <a:p>
            <a:r>
              <a:rPr lang="en-US" dirty="0"/>
              <a:t>Imagin a box:                                  Padding = space inside an element.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Margin = space outside an element.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</a:t>
            </a:r>
          </a:p>
          <a:p>
            <a:pPr marL="0" indent="0">
              <a:buNone/>
            </a:pPr>
            <a:r>
              <a:rPr lang="en-US" dirty="0"/>
              <a:t>Gives the contents breathing room inside the card.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Creates space between this card and whatever comes next.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63FF6-F639-09AB-4AC1-56C7B7853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729" y="1385956"/>
            <a:ext cx="1762371" cy="279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979016-7A15-7B5A-0D8A-DEE34D888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12" y="4019986"/>
            <a:ext cx="1276528" cy="3143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3DBE66-9C65-51E5-D640-3D56D5EFE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48" y="5076195"/>
            <a:ext cx="1467055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40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59764-8C57-5032-AB64-29E92FA5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73" y="18255"/>
            <a:ext cx="10515600" cy="1325563"/>
          </a:xfrm>
        </p:spPr>
        <p:txBody>
          <a:bodyPr/>
          <a:lstStyle/>
          <a:p>
            <a:r>
              <a:rPr lang="en-US" dirty="0"/>
              <a:t>Style observation cards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E817-4FBB-8C08-5127-731FABC8C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273" y="1253331"/>
            <a:ext cx="10515600" cy="5468482"/>
          </a:xfrm>
        </p:spPr>
        <p:txBody>
          <a:bodyPr/>
          <a:lstStyle/>
          <a:p>
            <a:r>
              <a:rPr lang="en-US" dirty="0"/>
              <a:t>Open:</a:t>
            </a:r>
          </a:p>
          <a:p>
            <a:r>
              <a:rPr lang="en-US" dirty="0"/>
              <a:t>Change it to:                                                  Then add to App.css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9ECEC-FA9B-DA8F-A86B-632006C3F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480" y="1286853"/>
            <a:ext cx="2515052" cy="477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B301C3-F459-15D5-81A0-869EAE699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153" y="1798349"/>
            <a:ext cx="3381847" cy="5068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6F8B17-5491-A02C-8A90-0CD585A06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378" y="2287525"/>
            <a:ext cx="2524477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50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9CF1-B0EA-F1B0-EC68-5B440815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18255"/>
            <a:ext cx="10515600" cy="1325563"/>
          </a:xfrm>
        </p:spPr>
        <p:txBody>
          <a:bodyPr/>
          <a:lstStyle/>
          <a:p>
            <a:r>
              <a:rPr lang="en-US" dirty="0"/>
              <a:t>Use CSS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8F5E-E93F-1842-C840-2827967F6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375" y="1200943"/>
            <a:ext cx="10858500" cy="5638802"/>
          </a:xfrm>
        </p:spPr>
        <p:txBody>
          <a:bodyPr/>
          <a:lstStyle/>
          <a:p>
            <a:r>
              <a:rPr lang="en-US" dirty="0"/>
              <a:t>Right now your observations probably appear: </a:t>
            </a:r>
          </a:p>
          <a:p>
            <a:r>
              <a:rPr lang="en-US" dirty="0"/>
              <a:t>On a computer screen, we’d rather have: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Wrap the cards: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add this to App.css: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C3B0A1-8AFF-13CB-2A87-15B24616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298" y="1343818"/>
            <a:ext cx="1105054" cy="1438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CDB8F9-C58F-FE5E-FB8A-F7D5AF825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388" y="2190939"/>
            <a:ext cx="2743583" cy="1486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6811E6-0E49-4BBC-80D3-523118CC4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813" y="3873759"/>
            <a:ext cx="2734057" cy="1971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01506D-5F59-BAC3-AF6A-1EAB8A210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262" y="4654216"/>
            <a:ext cx="2592138" cy="2185529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C5B5F762-6402-2610-CF2D-A8738F061A1D}"/>
              </a:ext>
            </a:extLst>
          </p:cNvPr>
          <p:cNvSpPr/>
          <p:nvPr/>
        </p:nvSpPr>
        <p:spPr>
          <a:xfrm>
            <a:off x="6732270" y="5707004"/>
            <a:ext cx="1428750" cy="3379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AC53A-92EB-663E-A30E-E58D15C9DE5B}"/>
              </a:ext>
            </a:extLst>
          </p:cNvPr>
          <p:cNvSpPr txBox="1"/>
          <p:nvPr/>
        </p:nvSpPr>
        <p:spPr>
          <a:xfrm>
            <a:off x="9039792" y="5514182"/>
            <a:ext cx="2767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two equal-width column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224D027-5A97-C839-509E-FEA2D0CD10BC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8505825" y="5837347"/>
            <a:ext cx="533967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51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9104-CCC0-603E-B641-BD4F8E36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379" y="18255"/>
            <a:ext cx="10515600" cy="1325563"/>
          </a:xfrm>
        </p:spPr>
        <p:txBody>
          <a:bodyPr/>
          <a:lstStyle/>
          <a:p>
            <a:r>
              <a:rPr lang="en-US" dirty="0"/>
              <a:t>Make it work on phones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DC5C2-82B9-20A9-7034-0DA20D98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379" y="1343817"/>
            <a:ext cx="10515600" cy="5495927"/>
          </a:xfrm>
        </p:spPr>
        <p:txBody>
          <a:bodyPr/>
          <a:lstStyle/>
          <a:p>
            <a:r>
              <a:rPr lang="en-US" dirty="0"/>
              <a:t>We want computer display: </a:t>
            </a:r>
          </a:p>
          <a:p>
            <a:r>
              <a:rPr lang="en-US" dirty="0"/>
              <a:t>Display on phone: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Css</a:t>
            </a:r>
            <a:r>
              <a:rPr lang="en-US" dirty="0"/>
              <a:t> can automatically detect a smaller screen.</a:t>
            </a:r>
          </a:p>
          <a:p>
            <a:r>
              <a:rPr lang="en-US" dirty="0"/>
              <a:t>Add this to App.css: </a:t>
            </a:r>
          </a:p>
          <a:p>
            <a:r>
              <a:rPr lang="en-US" dirty="0"/>
              <a:t>This is called a media query.</a:t>
            </a:r>
          </a:p>
          <a:p>
            <a:r>
              <a:rPr lang="en-US" dirty="0"/>
              <a:t>It says:</a:t>
            </a:r>
          </a:p>
          <a:p>
            <a:pPr marL="457200" lvl="1" indent="0">
              <a:buNone/>
            </a:pPr>
            <a:r>
              <a:rPr lang="en-US" dirty="0"/>
              <a:t>When the screen is 600 pixels</a:t>
            </a:r>
          </a:p>
          <a:p>
            <a:pPr marL="457200" lvl="1" indent="0">
              <a:buNone/>
            </a:pPr>
            <a:r>
              <a:rPr lang="en-US" dirty="0"/>
              <a:t>Wide or less, use this styles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5EFC0-F32D-C6B7-BFF8-30539FD9A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321" y="1343818"/>
            <a:ext cx="2191056" cy="619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1D8DEA-8719-94EA-1C6E-5A281726D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399" y="1838090"/>
            <a:ext cx="1495634" cy="1371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0FE093-E680-9022-2A0A-72BDEB4EE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7182" y="3877056"/>
            <a:ext cx="2638793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93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CDBD-32D5-A246-52AE-2B656B025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90" y="33655"/>
            <a:ext cx="10515600" cy="1325563"/>
          </a:xfrm>
        </p:spPr>
        <p:txBody>
          <a:bodyPr/>
          <a:lstStyle/>
          <a:p>
            <a:r>
              <a:rPr lang="en-US" dirty="0"/>
              <a:t>One more useful CSS technique: Flexbox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CD4EE-D8BE-DFFA-850E-2F5BD94FA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290" y="1413193"/>
            <a:ext cx="10515600" cy="4351338"/>
          </a:xfrm>
        </p:spPr>
        <p:txBody>
          <a:bodyPr/>
          <a:lstStyle/>
          <a:p>
            <a:r>
              <a:rPr lang="en-US" dirty="0"/>
              <a:t>Suppose later we want:</a:t>
            </a:r>
          </a:p>
          <a:p>
            <a:r>
              <a:rPr lang="en-US" dirty="0"/>
              <a:t>We can write in </a:t>
            </a:r>
            <a:r>
              <a:rPr lang="en-US" dirty="0" err="1"/>
              <a:t>ObservationCards.jsx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add this to App.css: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A506B-E991-7149-2EAC-40CD3105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706" y="1413193"/>
            <a:ext cx="2781688" cy="409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3DAF4A-9065-EAE7-2A68-FECC06E14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655" y="2082968"/>
            <a:ext cx="2391109" cy="2143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B329C9-1ED9-1A46-EEC7-8F66E87AA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345" y="3992247"/>
            <a:ext cx="4112750" cy="183903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6336F1F-6A78-B891-0B7D-62D347905D93}"/>
              </a:ext>
            </a:extLst>
          </p:cNvPr>
          <p:cNvSpPr/>
          <p:nvPr/>
        </p:nvSpPr>
        <p:spPr>
          <a:xfrm>
            <a:off x="1565910" y="4423410"/>
            <a:ext cx="1908810" cy="3543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F41CC06-EF67-26B9-198F-D69F9E7F70E0}"/>
              </a:ext>
            </a:extLst>
          </p:cNvPr>
          <p:cNvSpPr/>
          <p:nvPr/>
        </p:nvSpPr>
        <p:spPr>
          <a:xfrm>
            <a:off x="1713474" y="4739640"/>
            <a:ext cx="3665349" cy="3543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746508-8E94-2E09-9A22-6EE9B77CCC8A}"/>
              </a:ext>
            </a:extLst>
          </p:cNvPr>
          <p:cNvSpPr txBox="1"/>
          <p:nvPr/>
        </p:nvSpPr>
        <p:spPr>
          <a:xfrm>
            <a:off x="6096000" y="4453078"/>
            <a:ext cx="419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Puts the elements into a flexible layout.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C75EE1-659D-7D15-7D0D-BF36C0B370D6}"/>
              </a:ext>
            </a:extLst>
          </p:cNvPr>
          <p:cNvSpPr txBox="1"/>
          <p:nvPr/>
        </p:nvSpPr>
        <p:spPr>
          <a:xfrm>
            <a:off x="6131458" y="4827140"/>
            <a:ext cx="4199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Pushes them apart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10F33D-BCA9-7575-CC35-CAECC5D6F76D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4034118" y="4600575"/>
            <a:ext cx="2061882" cy="37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989577-A650-FDC3-E79E-2658688FC2BF}"/>
              </a:ext>
            </a:extLst>
          </p:cNvPr>
          <p:cNvCxnSpPr>
            <a:cxnSpLocks/>
          </p:cNvCxnSpPr>
          <p:nvPr/>
        </p:nvCxnSpPr>
        <p:spPr>
          <a:xfrm flipH="1" flipV="1">
            <a:off x="5282005" y="5011806"/>
            <a:ext cx="849453" cy="492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481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E75F5-4D2F-7156-8077-15647BBE6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255"/>
            <a:ext cx="10515600" cy="1325563"/>
          </a:xfrm>
        </p:spPr>
        <p:txBody>
          <a:bodyPr/>
          <a:lstStyle/>
          <a:p>
            <a:r>
              <a:rPr lang="en-US" dirty="0"/>
              <a:t>What you should understand after lesson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5F910-B4DE-71A5-4905-34B33A4C5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378742"/>
            <a:ext cx="10515600" cy="4907757"/>
          </a:xfrm>
        </p:spPr>
        <p:txBody>
          <a:bodyPr/>
          <a:lstStyle/>
          <a:p>
            <a:r>
              <a:rPr lang="en-US" dirty="0"/>
              <a:t>You don’t need to memorize every CSS property.</a:t>
            </a:r>
          </a:p>
          <a:p>
            <a:r>
              <a:rPr lang="en-US" dirty="0"/>
              <a:t>The important ideas are:</a:t>
            </a:r>
          </a:p>
          <a:p>
            <a:pPr lvl="1"/>
            <a:r>
              <a:rPr lang="en-US" dirty="0" err="1">
                <a:highlight>
                  <a:srgbClr val="C0C0C0"/>
                </a:highlight>
              </a:rPr>
              <a:t>className</a:t>
            </a:r>
            <a:r>
              <a:rPr lang="en-US" dirty="0"/>
              <a:t> connects JSX elements to CSS: </a:t>
            </a:r>
          </a:p>
          <a:p>
            <a:pPr lvl="1"/>
            <a:r>
              <a:rPr lang="en-US" dirty="0"/>
              <a:t>Padding and margin control spacing.</a:t>
            </a:r>
          </a:p>
          <a:p>
            <a:pPr lvl="1"/>
            <a:r>
              <a:rPr lang="en-US" dirty="0"/>
              <a:t>Flexbox is useful for arranging things </a:t>
            </a:r>
          </a:p>
          <a:p>
            <a:pPr marL="457200" lvl="1" indent="0">
              <a:buNone/>
            </a:pPr>
            <a:r>
              <a:rPr lang="en-US" dirty="0"/>
              <a:t>   in rows/columns.</a:t>
            </a:r>
          </a:p>
          <a:p>
            <a:pPr lvl="1"/>
            <a:r>
              <a:rPr lang="en-US" dirty="0"/>
              <a:t>Grid is excellent for arranging cards.</a:t>
            </a:r>
          </a:p>
          <a:p>
            <a:pPr lvl="1"/>
            <a:r>
              <a:rPr lang="en-US" dirty="0"/>
              <a:t>Media queries make the application responsive</a:t>
            </a:r>
          </a:p>
          <a:p>
            <a:pPr lvl="1"/>
            <a:r>
              <a:rPr lang="en-US" dirty="0"/>
              <a:t>And most importantly: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B7591-000E-D474-56A0-0586032FC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699" y="2129747"/>
            <a:ext cx="2229161" cy="60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16FBE-5E40-0A9D-BDD6-B93B3E5FC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699" y="2933631"/>
            <a:ext cx="1762371" cy="990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C55642-93A5-BA20-0E31-25A6EB352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584" y="4758567"/>
            <a:ext cx="1733792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92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</TotalTime>
  <Words>547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CSS and Making the App Look Professional</vt:lpstr>
      <vt:lpstr>Learning goals</vt:lpstr>
      <vt:lpstr>What is CSS</vt:lpstr>
      <vt:lpstr>Find App.css</vt:lpstr>
      <vt:lpstr>Give the app a container</vt:lpstr>
      <vt:lpstr>Understanding className</vt:lpstr>
      <vt:lpstr>Create a header</vt:lpstr>
      <vt:lpstr>Style our form (card-like form)</vt:lpstr>
      <vt:lpstr>Add labels</vt:lpstr>
      <vt:lpstr>Style form groups</vt:lpstr>
      <vt:lpstr>Style the Add Observation button</vt:lpstr>
      <vt:lpstr>What is padding versus margin?</vt:lpstr>
      <vt:lpstr>Style observation cards</vt:lpstr>
      <vt:lpstr>Use CSS Grid</vt:lpstr>
      <vt:lpstr>Make it work on phones</vt:lpstr>
      <vt:lpstr>One more useful CSS technique: Flexbox</vt:lpstr>
      <vt:lpstr>What you should understand after lesson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Ping Bai</dc:creator>
  <cp:lastModifiedBy>Ping Bai</cp:lastModifiedBy>
  <cp:revision>6</cp:revision>
  <dcterms:created xsi:type="dcterms:W3CDTF">2026-10-17T00:57:15Z</dcterms:created>
  <dcterms:modified xsi:type="dcterms:W3CDTF">2026-10-21T03:43:01Z</dcterms:modified>
</cp:coreProperties>
</file>